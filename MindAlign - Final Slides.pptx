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DM Sans Light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Light-regular.fntdata"/><Relationship Id="rId22" Type="http://schemas.openxmlformats.org/officeDocument/2006/relationships/font" Target="fonts/DMSansLight-italic.fntdata"/><Relationship Id="rId21" Type="http://schemas.openxmlformats.org/officeDocument/2006/relationships/font" Target="fonts/DMSansLight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5.png"/><Relationship Id="rId9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18.png"/><Relationship Id="rId7" Type="http://schemas.openxmlformats.org/officeDocument/2006/relationships/image" Target="../media/image33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619750" y="4034730"/>
            <a:ext cx="952500" cy="571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395662" y="4377630"/>
            <a:ext cx="54006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Merriweather"/>
                <a:ea typeface="Merriweather"/>
                <a:cs typeface="Merriweather"/>
                <a:sym typeface="Merriweather"/>
              </a:rPr>
              <a:t>AI-Guided CBT &amp; Relapse Support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24250" y="4949130"/>
            <a:ext cx="5143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Empowering recovery through scalable, personalized intelligence.</a:t>
            </a:r>
            <a:endParaRPr/>
          </a:p>
        </p:txBody>
      </p:sp>
      <p:pic>
        <p:nvPicPr>
          <p:cNvPr id="88" name="Google Shape;88;p13" title="MindAlign logo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175" y="1510588"/>
            <a:ext cx="289560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62050"/>
            <a:ext cx="5238750" cy="512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162050"/>
            <a:ext cx="5238750" cy="51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62025" y="2789932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Supply &amp; Demand Gap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62025" y="3390007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The demand for mental health support has skyrocketed, yet there is a critical shortage of qualified therapists. Wait times for care can exceed 3-6 months in many regions.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72275" y="2789932"/>
            <a:ext cx="46805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Accessibility Barriers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72275" y="3390007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Traditional therapy is expensive and often requires fixed appointments. Millions fall through the cracks because they cannot access affordable, immediate support during critical moments of need.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The Mental Health Crisis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192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451794"/>
            <a:ext cx="52387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DM Sans Light"/>
                <a:ea typeface="DM Sans Light"/>
                <a:cs typeface="DM Sans Light"/>
                <a:sym typeface="DM Sans Light"/>
              </a:rPr>
              <a:t>Always-on support, tailored to you.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192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3007965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24/7 AI-CBT:</a:t>
            </a: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 Immediate responses based on clinical protocols.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3747045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Relapse Prevention:</a:t>
            </a: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 Predictive modeling identifies triggers before they escalate.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4486126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Clinical Escalation:</a:t>
            </a: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 Seamless hand-off to human therapists when high risk is detected.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5082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899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28988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Meet MindAlign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6129"/>
            <a:ext cx="2430660" cy="2236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4180" y="2606129"/>
            <a:ext cx="2430660" cy="2236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860" y="2606129"/>
            <a:ext cx="2430660" cy="2236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9541" y="2606129"/>
            <a:ext cx="2430660" cy="223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/>
          <p:nvPr/>
        </p:nvSpPr>
        <p:spPr>
          <a:xfrm>
            <a:off x="571500" y="3724275"/>
            <a:ext cx="11049000" cy="381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30760" y="3282404"/>
            <a:ext cx="2112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Daily Check-in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81050" y="3749129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User logs mood or engages in a casual chat.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603441" y="3282404"/>
            <a:ext cx="2112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AI Analysis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653730" y="3749129"/>
            <a:ext cx="20115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NLP algorithms analyze sentiment and stress patterns.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476121" y="3282404"/>
            <a:ext cx="2112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Intervention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526410" y="3749129"/>
            <a:ext cx="201156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System delivers a CBT exercise or coping strategy.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348802" y="3282404"/>
            <a:ext cx="211213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Progress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399091" y="3749129"/>
            <a:ext cx="201156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Weekly reports track improvement and adjust the plan.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7292" y="2853779"/>
            <a:ext cx="2190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6635" y="285377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89316" y="285377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61996" y="285377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User Journey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5977"/>
            <a:ext cx="3492549" cy="2756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45977"/>
            <a:ext cx="3492549" cy="2756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45977"/>
            <a:ext cx="3492549" cy="275644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94225" y="332705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Empathetic AI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66775" y="3812827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 trained on thousands of clinical interactions.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572524" y="332705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Smart Journaling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4645074" y="3812827"/>
            <a:ext cx="2901999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Guided prompts that help users reframe negative thought patterns.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50824" y="332705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Crisis Safety Net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423374" y="3812827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Real-time detection of harm keywords triggers immediate human escalation.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575" y="268887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68887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68887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Tools for Recovery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931664"/>
            <a:ext cx="45720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6750" y="1598414"/>
            <a:ext cx="32385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2265164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143500" y="1188839"/>
            <a:ext cx="1905000" cy="365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Global mental health &amp; addiction market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957762" y="1922264"/>
            <a:ext cx="2276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Digital mental health solutions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143500" y="2847230"/>
            <a:ext cx="1905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DM Sans"/>
                <a:ea typeface="DM Sans"/>
                <a:cs typeface="DM Sans"/>
                <a:sym typeface="DM Sans"/>
              </a:rPr>
              <a:t>AI-guided CBT / relapse support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557837" y="3374677"/>
            <a:ext cx="10763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74151"/>
                </a:solidFill>
                <a:latin typeface="DM Sans"/>
                <a:ea typeface="DM Sans"/>
                <a:cs typeface="DM Sans"/>
                <a:sym typeface="DM Sans"/>
              </a:rPr>
              <a:t>(MindAlign focus)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319587" y="5789414"/>
            <a:ext cx="3552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Demand for scalable support is soaring.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200525" y="6063704"/>
            <a:ext cx="3790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Users are comfortable with chat and apps.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457700" y="6337994"/>
            <a:ext cx="3276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Employers seek cost-effective solutions.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295275" y="245864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Market Opportunity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3492549" cy="3305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71687"/>
            <a:ext cx="3492549" cy="3305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71687"/>
            <a:ext cx="3492549" cy="330502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94225" y="305276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D2C Freemium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66775" y="35385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Free:</a:t>
            </a: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 Basic mood tracking &amp; journaling.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Premium ($12/mo):</a:t>
            </a: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 Unlimited AI chat, advanced analytics, and CBT modules.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4572524" y="305276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B2B Enterprise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645074" y="353853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Licensing deals with University Counseling Centers and EAPs (Employee Assistance Programs) to cover large populations.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350824" y="3052762"/>
            <a:ext cx="304709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Payer Integration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423374" y="3538537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Future roadmap involves reimbursement codes through major health insurance providers as a digital therapeutic.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1012" y="24145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41458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3799" y="24145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Business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357187" y="2289869"/>
            <a:ext cx="900112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Built on Secure Technology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3242369"/>
            <a:ext cx="85725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Our proprietary NLP models are HIPAA-compliant and encrypted end-to-end, ensuring that user data remains private and secure while delivering clinical-grade support.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3425" y="4338637"/>
            <a:ext cx="3105150" cy="1137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295275" y="2325141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9FAFB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268116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Thank you for your time.</a:t>
            </a:r>
            <a:endParaRPr/>
          </a:p>
        </p:txBody>
      </p:sp>
      <p:pic>
        <p:nvPicPr>
          <p:cNvPr descr="image.png" id="206" name="Google Shape;2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8812" y="1458366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4829175" y="4624387"/>
            <a:ext cx="2533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DM Sans"/>
                <a:ea typeface="DM Sans"/>
                <a:cs typeface="DM Sans"/>
                <a:sym typeface="DM Sans"/>
              </a:rPr>
              <a:t>partnerships@mindalign.com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829175" y="4946302"/>
            <a:ext cx="25336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www.mindalign.com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71500" y="235371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333657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33270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33270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571500" y="41118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71500" y="411182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022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1666875" y="249659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https://i.redd.it/mental-health-app-full-practice-need-feedback-v0-gaxlc7twfvbd1.jpg?width=1600&amp;format=pjpg&amp;auto=webp&amp;s=8259e5126d5399cc9110528505ec4cb3ca203b13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666875" y="294039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www.reddit.com</a:t>
            </a:r>
            <a:endParaRPr/>
          </a:p>
        </p:txBody>
      </p:sp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60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666875" y="347945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https://images.stockcake.com/public/6/a/6/6a6c0108-ef7a-4997-989a-c40b6e20743f_large/diverse-team-smiling-stockcake.jpg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666875" y="372516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stockcake.com</a:t>
            </a:r>
            <a:endParaRPr/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698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666875" y="426422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https://img.freepik.com/premium-photo/abstract-network-technology-background-with-dots-lines-white-canvas-representing-ai-systems-digital-connectivity-data-flow-clean-modern-minimalist-design_713562-39621.jpg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666875" y="470802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2D3EE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